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3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4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Songs</c:v>
                </c:pt>
              </c:strCache>
            </c:strRef>
          </c:tx>
          <c:spPr>
            <a:solidFill>
              <a:srgbClr val="6D2E4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2D1B3D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6D2E46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D4456A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A26769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8C7A6B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2F3C7E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Rock</c:v>
                  </c:pt>
                  <c:pt idx="1">
                    <c:v>Pop</c:v>
                  </c:pt>
                  <c:pt idx="2">
                    <c:v>Acoustic</c:v>
                  </c:pt>
                  <c:pt idx="3">
                    <c:v>Jazz</c:v>
                  </c:pt>
                  <c:pt idx="4">
                    <c:v>Hip-Hop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141695</c:v>
                </c:pt>
                <c:pt idx="1">
                  <c:v>113720</c:v>
                </c:pt>
                <c:pt idx="2">
                  <c:v>18983</c:v>
                </c:pt>
                <c:pt idx="3">
                  <c:v>13545</c:v>
                </c:pt>
                <c:pt idx="4">
                  <c:v>2240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2D1B3D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C7A6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C7A6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Songs</c:v>
                </c:pt>
              </c:strCache>
            </c:strRef>
          </c:tx>
          <c:spPr>
            <a:solidFill>
              <a:srgbClr val="D4456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2D1B3D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D4456A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6D2E46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A26769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2F3C7E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8C7A6B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Pop</c:v>
                  </c:pt>
                  <c:pt idx="1">
                    <c:v>Rock</c:v>
                  </c:pt>
                  <c:pt idx="2">
                    <c:v>Acoustic</c:v>
                  </c:pt>
                  <c:pt idx="3">
                    <c:v>Hip-Hop</c:v>
                  </c:pt>
                  <c:pt idx="4">
                    <c:v>Jazz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2280</c:v>
                </c:pt>
                <c:pt idx="1">
                  <c:v>2220</c:v>
                </c:pt>
                <c:pt idx="2">
                  <c:v>1815</c:v>
                </c:pt>
                <c:pt idx="3">
                  <c:v>960</c:v>
                </c:pt>
                <c:pt idx="4">
                  <c:v>660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2D1B3D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C7A6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C7A6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Accuracy %</c:v>
                </c:pt>
              </c:strCache>
            </c:strRef>
          </c:tx>
          <c:spPr>
            <a:solidFill>
              <a:srgbClr val="A26769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2D1B3D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A26769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A26769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A26769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A26769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D4456A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Logistic Reg</c:v>
                  </c:pt>
                  <c:pt idx="1">
                    <c:v>Linear SVC</c:v>
                  </c:pt>
                  <c:pt idx="2">
                    <c:v>SGD (Log)</c:v>
                  </c:pt>
                  <c:pt idx="3">
                    <c:v>SGD (Hinge)</c:v>
                  </c:pt>
                  <c:pt idx="4">
                    <c:v>LightGBM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45</c:v>
                </c:pt>
                <c:pt idx="1">
                  <c:v>45</c:v>
                </c:pt>
                <c:pt idx="2">
                  <c:v>45</c:v>
                </c:pt>
                <c:pt idx="3">
                  <c:v>45</c:v>
                </c:pt>
                <c:pt idx="4">
                  <c:v>49.8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2D1B3D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C7A6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55"/>
          <c:min val="30"/>
        </c:scaling>
        <c:delete val="0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C7A6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F1-Score %</c:v>
                </c:pt>
              </c:strCache>
            </c:strRef>
          </c:tx>
          <c:spPr>
            <a:solidFill>
              <a:srgbClr val="A26769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2D1B3D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A26769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2F3C7E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8C7A6B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D4456A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6D2E46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Acoustic</c:v>
                  </c:pt>
                  <c:pt idx="1">
                    <c:v>Hip-Hop</c:v>
                  </c:pt>
                  <c:pt idx="2">
                    <c:v>Jazz</c:v>
                  </c:pt>
                  <c:pt idx="3">
                    <c:v>Pop</c:v>
                  </c:pt>
                  <c:pt idx="4">
                    <c:v>Rock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48</c:v>
                </c:pt>
                <c:pt idx="1">
                  <c:v>60</c:v>
                </c:pt>
                <c:pt idx="2">
                  <c:v>50</c:v>
                </c:pt>
                <c:pt idx="3">
                  <c:v>33</c:v>
                </c:pt>
                <c:pt idx="4">
                  <c:v>63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2D1B3D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C7A6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0"/>
          <c:min val="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C7A6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D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D4456A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731520"/>
            <a:ext cx="731520" cy="7315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640" y="164592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ECE2D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Music Maven</a:t>
            </a:r>
            <a:endParaRPr lang="en-US" sz="4400" dirty="0"/>
          </a:p>
        </p:txBody>
      </p:sp>
      <p:sp>
        <p:nvSpPr>
          <p:cNvPr id="5" name="Text 2"/>
          <p:cNvSpPr/>
          <p:nvPr/>
        </p:nvSpPr>
        <p:spPr>
          <a:xfrm>
            <a:off x="548640" y="246888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Lyrics Classification &amp; Mood-Based Search</a:t>
            </a:r>
            <a:endParaRPr lang="en-US" sz="2200" dirty="0"/>
          </a:p>
        </p:txBody>
      </p:sp>
      <p:sp>
        <p:nvSpPr>
          <p:cNvPr id="6" name="Shape 3"/>
          <p:cNvSpPr/>
          <p:nvPr/>
        </p:nvSpPr>
        <p:spPr>
          <a:xfrm>
            <a:off x="548640" y="3200400"/>
            <a:ext cx="2286000" cy="36576"/>
          </a:xfrm>
          <a:prstGeom prst="rect">
            <a:avLst/>
          </a:prstGeom>
          <a:solidFill>
            <a:srgbClr val="D4456A"/>
          </a:solidFill>
          <a:ln/>
        </p:spPr>
      </p:sp>
      <p:sp>
        <p:nvSpPr>
          <p:cNvPr id="7" name="Text 4"/>
          <p:cNvSpPr/>
          <p:nvPr/>
        </p:nvSpPr>
        <p:spPr>
          <a:xfrm>
            <a:off x="548640" y="347472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C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 2 — Classification &amp; Model Comparison</a:t>
            </a:r>
            <a:endParaRPr lang="en-US" sz="1400" dirty="0"/>
          </a:p>
          <a:p>
            <a:pPr indent="0" marL="0">
              <a:buNone/>
            </a:pPr>
            <a:r>
              <a:rPr lang="en-US" sz="1600" b="1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Maria Malini Anthony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CE2D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D1B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Project Overview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C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end-to-end NLP system that classifies songs by genre from their lyrics and enables intelligent mood-based music discovery through semantic search.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2560320" cy="2377440"/>
          </a:xfrm>
          <a:prstGeom prst="rect">
            <a:avLst/>
          </a:prstGeom>
          <a:solidFill>
            <a:srgbClr val="6D2E46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2057400"/>
            <a:ext cx="411480" cy="411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31520" y="26060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CE2D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290K+ Songs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731520" y="2971800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Large-scale lyrics dataset with 10 original genres merged into 5 categories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3383280" y="1874520"/>
            <a:ext cx="2560320" cy="2377440"/>
          </a:xfrm>
          <a:prstGeom prst="rect">
            <a:avLst/>
          </a:prstGeom>
          <a:solidFill>
            <a:srgbClr val="6D2E46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6160" y="2057400"/>
            <a:ext cx="411480" cy="41148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566160" y="26060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CE2D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 ML Models</a:t>
            </a:r>
            <a:endParaRPr lang="en-US" sz="1700" dirty="0"/>
          </a:p>
        </p:txBody>
      </p:sp>
      <p:sp>
        <p:nvSpPr>
          <p:cNvPr id="11" name="Text 7"/>
          <p:cNvSpPr/>
          <p:nvPr/>
        </p:nvSpPr>
        <p:spPr>
          <a:xfrm>
            <a:off x="3566160" y="2971800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 &amp; compared: Logistic Regression, SVM, SGD, LightGBM, Random Forest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6217920" y="1874520"/>
            <a:ext cx="2560320" cy="2377440"/>
          </a:xfrm>
          <a:prstGeom prst="rect">
            <a:avLst/>
          </a:prstGeom>
          <a:solidFill>
            <a:srgbClr val="6D2E46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2057400"/>
            <a:ext cx="411480" cy="41148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400800" y="26060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CE2D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Mood Search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6400800" y="2971800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Emotion inference, valence scoring &amp; semantic similarity for song discovery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D1B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Pipeline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1188720"/>
            <a:ext cx="457200" cy="457200"/>
          </a:xfrm>
          <a:prstGeom prst="ellipse">
            <a:avLst/>
          </a:prstGeom>
          <a:solidFill>
            <a:srgbClr val="D4456A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188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97280" y="114300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Load &amp; Clean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097280" y="146304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C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290K train + 7.9K test songs loaded from pickle files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383280" y="1188720"/>
            <a:ext cx="457200" cy="457200"/>
          </a:xfrm>
          <a:prstGeom prst="ellipse">
            <a:avLst/>
          </a:prstGeom>
          <a:solidFill>
            <a:srgbClr val="D4456A"/>
          </a:solidFill>
          <a:ln/>
        </p:spPr>
      </p:sp>
      <p:sp>
        <p:nvSpPr>
          <p:cNvPr id="8" name="Text 6"/>
          <p:cNvSpPr/>
          <p:nvPr/>
        </p:nvSpPr>
        <p:spPr>
          <a:xfrm>
            <a:off x="3383280" y="1188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3931920" y="114300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Merge Genres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931920" y="146304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C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genres → 5 categories: Rock, Pop, Acoustic, Jazz, Hip-Hop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217920" y="1188720"/>
            <a:ext cx="457200" cy="457200"/>
          </a:xfrm>
          <a:prstGeom prst="ellipse">
            <a:avLst/>
          </a:prstGeom>
          <a:solidFill>
            <a:srgbClr val="D4456A"/>
          </a:solidFill>
          <a:ln/>
        </p:spPr>
      </p:sp>
      <p:sp>
        <p:nvSpPr>
          <p:cNvPr id="12" name="Text 10"/>
          <p:cNvSpPr/>
          <p:nvPr/>
        </p:nvSpPr>
        <p:spPr>
          <a:xfrm>
            <a:off x="6217920" y="1188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766560" y="114300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Encode Labels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766560" y="146304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C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LabelEncoder applied to Genre_merged column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8640" y="2880360"/>
            <a:ext cx="457200" cy="457200"/>
          </a:xfrm>
          <a:prstGeom prst="ellipse">
            <a:avLst/>
          </a:prstGeom>
          <a:solidFill>
            <a:srgbClr val="D4456A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2880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097280" y="283464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TF-IDF Features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097280" y="315468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C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10K features with 2-3 n-grams, min_df=5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383280" y="2880360"/>
            <a:ext cx="457200" cy="457200"/>
          </a:xfrm>
          <a:prstGeom prst="ellipse">
            <a:avLst/>
          </a:prstGeom>
          <a:solidFill>
            <a:srgbClr val="D4456A"/>
          </a:solidFill>
          <a:ln/>
        </p:spPr>
      </p:sp>
      <p:sp>
        <p:nvSpPr>
          <p:cNvPr id="20" name="Text 18"/>
          <p:cNvSpPr/>
          <p:nvPr/>
        </p:nvSpPr>
        <p:spPr>
          <a:xfrm>
            <a:off x="3383280" y="2880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3931920" y="283464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SBERT Embeddings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3931920" y="315468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C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384-dim vectors via all-MiniLM-L6-v2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217920" y="2880360"/>
            <a:ext cx="457200" cy="457200"/>
          </a:xfrm>
          <a:prstGeom prst="ellipse">
            <a:avLst/>
          </a:prstGeom>
          <a:solidFill>
            <a:srgbClr val="D4456A"/>
          </a:solidFill>
          <a:ln/>
        </p:spPr>
      </p:sp>
      <p:sp>
        <p:nvSpPr>
          <p:cNvPr id="24" name="Text 22"/>
          <p:cNvSpPr/>
          <p:nvPr/>
        </p:nvSpPr>
        <p:spPr>
          <a:xfrm>
            <a:off x="6217920" y="2880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6766560" y="283464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Style Features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6766560" y="315468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C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handcrafted: line length, TTR, slang, repetition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48640" y="4434840"/>
            <a:ext cx="8046720" cy="45720"/>
          </a:xfrm>
          <a:prstGeom prst="rect">
            <a:avLst/>
          </a:prstGeom>
          <a:solidFill>
            <a:srgbClr val="A26769"/>
          </a:solidFill>
          <a:ln/>
        </p:spPr>
      </p:sp>
      <p:sp>
        <p:nvSpPr>
          <p:cNvPr id="28" name="Text 26"/>
          <p:cNvSpPr/>
          <p:nvPr/>
        </p:nvSpPr>
        <p:spPr>
          <a:xfrm>
            <a:off x="548640" y="457200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Combined feature matrix: 10,390 dimensions → TruncatedSVD → 300 components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D1B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Genre Distribution After Merging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D2E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Training Set (290K songs)</a:t>
            </a:r>
            <a:endParaRPr lang="en-US" sz="1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274320" y="1371600"/>
          <a:ext cx="411480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4846320" y="100584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D2E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Test Set (7.9K songs)</a:t>
            </a:r>
            <a:endParaRPr lang="en-US" sz="1400" dirty="0"/>
          </a:p>
        </p:txBody>
      </p:sp>
      <p:graphicFrame>
        <p:nvGraphicFramePr>
          <p:cNvPr id="6" name="Chart 1" descr=""/>
          <p:cNvGraphicFramePr/>
          <p:nvPr/>
        </p:nvGraphicFramePr>
        <p:xfrm>
          <a:off x="4572000" y="1371600"/>
          <a:ext cx="411480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 3"/>
          <p:cNvSpPr/>
          <p:nvPr/>
        </p:nvSpPr>
        <p:spPr>
          <a:xfrm>
            <a:off x="548640" y="466344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C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Significant class imbalance — Rock and Pop dominate the training set. All models use class_weight='balanced'.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CE2D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D1B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Feature Engineering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1188720"/>
            <a:ext cx="256032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548640" y="1188720"/>
            <a:ext cx="2560320" cy="54864"/>
          </a:xfrm>
          <a:prstGeom prst="rect">
            <a:avLst/>
          </a:prstGeom>
          <a:solidFill>
            <a:srgbClr val="D4456A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417320"/>
            <a:ext cx="365760" cy="3657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31520" y="187452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TF-IDF (10K)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731520" y="2286000"/>
            <a:ext cx="21945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8C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2-3 word n-grams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8C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 document freq: 5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8C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English stop words removed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8C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10,000 max features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3383280" y="1188720"/>
            <a:ext cx="256032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3383280" y="1188720"/>
            <a:ext cx="2560320" cy="54864"/>
          </a:xfrm>
          <a:prstGeom prst="rect">
            <a:avLst/>
          </a:prstGeom>
          <a:solidFill>
            <a:srgbClr val="D4456A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6160" y="1417320"/>
            <a:ext cx="365760" cy="36576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566160" y="187452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SBERT (384-dim)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3566160" y="2286000"/>
            <a:ext cx="21945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8C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all-MiniLM-L6-v2 model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8C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sequence length: 256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8C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Chunked encoding (20K)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8C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meaning capture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6217920" y="1188720"/>
            <a:ext cx="256032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6217920" y="1188720"/>
            <a:ext cx="2560320" cy="54864"/>
          </a:xfrm>
          <a:prstGeom prst="rect">
            <a:avLst/>
          </a:prstGeom>
          <a:solidFill>
            <a:srgbClr val="D4456A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417320"/>
            <a:ext cx="365760" cy="36576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400800" y="187452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Style Features (6)</a:t>
            </a:r>
            <a:endParaRPr lang="en-US" sz="1500" dirty="0"/>
          </a:p>
        </p:txBody>
      </p:sp>
      <p:sp>
        <p:nvSpPr>
          <p:cNvPr id="17" name="Text 12"/>
          <p:cNvSpPr/>
          <p:nvPr/>
        </p:nvSpPr>
        <p:spPr>
          <a:xfrm>
            <a:off x="6400800" y="2286000"/>
            <a:ext cx="21945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8C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line length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8C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Type-Token Ratio (TTR)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8C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Slang count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8C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repetition score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8C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Punctuation density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8C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Capitalization ratio</a:t>
            </a:r>
            <a:endParaRPr lang="en-US" sz="1200" dirty="0"/>
          </a:p>
        </p:txBody>
      </p:sp>
      <p:sp>
        <p:nvSpPr>
          <p:cNvPr id="18" name="Text 13"/>
          <p:cNvSpPr/>
          <p:nvPr/>
        </p:nvSpPr>
        <p:spPr>
          <a:xfrm>
            <a:off x="548640" y="461772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Combined: 10,390 features → TruncatedSVD (300 components) for dimensionality reduction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D1B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Model Comparison</a:t>
            </a:r>
            <a:endParaRPr lang="en-US" sz="36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1188720"/>
                <a:gridCol w="1188720"/>
                <a:gridCol w="1371600"/>
                <a:gridCol w="2468880"/>
              </a:tblGrid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Model</a:t>
                      </a:r>
                      <a:endParaRPr lang="en-US" sz="13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E4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Accuracy</a:t>
                      </a:r>
                      <a:endParaRPr lang="en-US" sz="13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E4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Weighted F1</a:t>
                      </a:r>
                      <a:endParaRPr lang="en-US" sz="13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E4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Training Time</a:t>
                      </a:r>
                      <a:endParaRPr lang="en-US" sz="13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E4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Notes</a:t>
                      </a:r>
                      <a:endParaRPr lang="en-US" sz="13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E46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D1B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Logistic Regression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1B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~45%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1B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~42%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1B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~53 min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D1B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saga solver, multinomial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D1B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Linear SVC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2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1B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45.0%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2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1B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41.8%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2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1B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2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D1B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dual=False, balanced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2EB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D1B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SGD (Log Loss)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1B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~45%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1B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~42%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1B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~2.3 min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D1B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Faster LR approx.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D1B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SGD (Hinge)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2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1B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~45%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2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1B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~42%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2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1B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~3.3 min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2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D1B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Faster SVC approx.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2EB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D445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LightGBM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D445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49.8%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D445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49.6%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D445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D445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 performer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D1B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Forest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2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1B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2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1B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2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1B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Too long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2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D1B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Did not finish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2EB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" name="Chart 0" descr=""/>
          <p:cNvGraphicFramePr/>
          <p:nvPr/>
        </p:nvGraphicFramePr>
        <p:xfrm>
          <a:off x="457200" y="3977640"/>
          <a:ext cx="8229600" cy="1051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CE2D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D1B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Best Model: LightGBM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1097280"/>
            <a:ext cx="393192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822960" y="123444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D2E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Configuration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22960" y="1691640"/>
            <a:ext cx="33832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2D1B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n_estimators: 150</a:t>
            </a: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2D1B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learning_rate: 0.1</a:t>
            </a: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2D1B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num_leaves: 31</a:t>
            </a: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2D1B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max_depth: 10</a:t>
            </a: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2D1B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class_weight: balanced</a:t>
            </a: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2D1B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subsample: 0.8</a:t>
            </a: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2D1B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colsample_bytree: 0.8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754880" y="1097280"/>
            <a:ext cx="393192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029200" y="123444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D2E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Per-Class F1-Scores (%)</a:t>
            </a:r>
            <a:endParaRPr lang="en-US" sz="16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4846320" y="1737360"/>
          <a:ext cx="3657600" cy="2560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Text 6"/>
          <p:cNvSpPr/>
          <p:nvPr/>
        </p:nvSpPr>
        <p:spPr>
          <a:xfrm>
            <a:off x="548640" y="47091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Overall: 49.8% accuracy | 49.6% weighted F1 — Hip-Hop and Rock are best differentiated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D1B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Mood-Based Search Pipeline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365760" y="1188720"/>
            <a:ext cx="2011680" cy="2560320"/>
          </a:xfrm>
          <a:prstGeom prst="rect">
            <a:avLst/>
          </a:prstGeom>
          <a:solidFill>
            <a:srgbClr val="6D2E46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02920" y="13258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02920" y="178308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Emotion Inference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02920" y="2240280"/>
            <a:ext cx="1737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DistilBERT-based model extracts 6 emotion probabilities per song (sadness, joy, love, anger, fear, surprise)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2606040" y="1188720"/>
            <a:ext cx="2011680" cy="2560320"/>
          </a:xfrm>
          <a:prstGeom prst="rect">
            <a:avLst/>
          </a:prstGeom>
          <a:solidFill>
            <a:srgbClr val="D4456A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743200" y="13258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2743200" y="178308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Valence Scoring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743200" y="2240280"/>
            <a:ext cx="1737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emotion → valence score (-1 to +1). Joy=1.0, Love=0.8, Anger=-1.0, Sadness=-0.8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846320" y="1188720"/>
            <a:ext cx="2011680" cy="2560320"/>
          </a:xfrm>
          <a:prstGeom prst="rect">
            <a:avLst/>
          </a:prstGeom>
          <a:solidFill>
            <a:srgbClr val="A26769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983480" y="13258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983480" y="178308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Mood Mapping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983480" y="2240280"/>
            <a:ext cx="1737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Valence bucketed into 5 mood classes: Very Negative → Very Positive, encoded 0-4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7086600" y="1188720"/>
            <a:ext cx="2011680" cy="2560320"/>
          </a:xfrm>
          <a:prstGeom prst="rect">
            <a:avLst/>
          </a:prstGeom>
          <a:solidFill>
            <a:srgbClr val="2F3C7E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7223760" y="13258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7223760" y="178308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Hybrid Search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223760" y="2240280"/>
            <a:ext cx="1737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Cosine similarity on SBERT embeddings combined with valence &amp; emotion features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48640" y="4023360"/>
            <a:ext cx="8046720" cy="914400"/>
          </a:xfrm>
          <a:prstGeom prst="rect">
            <a:avLst/>
          </a:prstGeom>
          <a:solidFill>
            <a:srgbClr val="F7F2EB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822960" y="41148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D2E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Example Query: "hurting"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22960" y="4434840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C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Returns songs with high sadness scores + semantically similar lyrics about heartache and pain, sorted by cosine similarity with emotion-weighted features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CE2D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D1B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Search Demonstrations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1097280"/>
            <a:ext cx="384048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548640" y="1097280"/>
            <a:ext cx="3840480" cy="54864"/>
          </a:xfrm>
          <a:prstGeom prst="rect">
            <a:avLst/>
          </a:prstGeom>
          <a:solidFill>
            <a:srgbClr val="6D2E46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325880"/>
            <a:ext cx="320040" cy="3200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88720" y="132588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D2E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Semantic Lyrics Search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777240" y="178308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C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SBERT cosine similarity on 290K song embeddings. Pure semantic matching on lyrics content.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777240" y="2423160"/>
            <a:ext cx="33832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D44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"love and heartbreak"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2D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My Love (Interlude) — Ady Suleiman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D44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"blue skies"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2D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Blue Skies — Marina Lima (score: 0.65)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754880" y="1097280"/>
            <a:ext cx="384048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54880" y="1097280"/>
            <a:ext cx="3840480" cy="54864"/>
          </a:xfrm>
          <a:prstGeom prst="rect">
            <a:avLst/>
          </a:prstGeom>
          <a:solidFill>
            <a:srgbClr val="D4456A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3480" y="1325880"/>
            <a:ext cx="320040" cy="32004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394960" y="132588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D2E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Mood-Based Search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4983480" y="178308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C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Combines SBERT similarity with emotion probabilities + valence for mood-aware results.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4983480" y="2423160"/>
            <a:ext cx="33832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D44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"hurting"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2D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Heartbreak songs with high sadness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D44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 love you"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2D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Love songs with positive valence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D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D4456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CE2D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Challenges &amp; Next Steps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109728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445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Challenges Faced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48640" y="1645920"/>
            <a:ext cx="137160" cy="137160"/>
          </a:xfrm>
          <a:prstGeom prst="ellipse">
            <a:avLst/>
          </a:prstGeom>
          <a:solidFill>
            <a:srgbClr val="A26769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572768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Heavy class imbalance (Rock/Pop dominate)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2194560"/>
            <a:ext cx="137160" cy="137160"/>
          </a:xfrm>
          <a:prstGeom prst="ellipse">
            <a:avLst/>
          </a:prstGeom>
          <a:solidFill>
            <a:srgbClr val="A26769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2121408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290K songs: GPU sessions crash during emotion inference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2743200"/>
            <a:ext cx="137160" cy="137160"/>
          </a:xfrm>
          <a:prstGeom prst="ellipse">
            <a:avLst/>
          </a:prstGeom>
          <a:solidFill>
            <a:srgbClr val="A26769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2670048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~50% accuracy ceiling — lyrics alone have limited genre signal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3291840"/>
            <a:ext cx="137160" cy="137160"/>
          </a:xfrm>
          <a:prstGeom prst="ellipse">
            <a:avLst/>
          </a:prstGeom>
          <a:solidFill>
            <a:srgbClr val="A26769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3218688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training too slow on full dataset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3840480"/>
            <a:ext cx="137160" cy="137160"/>
          </a:xfrm>
          <a:prstGeom prst="ellipse">
            <a:avLst/>
          </a:prstGeom>
          <a:solidFill>
            <a:srgbClr val="A26769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3767328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Emotion model processing needed careful batching &amp; memory mgmt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937760" y="109728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445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Next Steps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4937760" y="1645920"/>
            <a:ext cx="137160" cy="137160"/>
          </a:xfrm>
          <a:prstGeom prst="ellipse">
            <a:avLst/>
          </a:prstGeom>
          <a:solidFill>
            <a:srgbClr val="D4456A"/>
          </a:solidFill>
          <a:ln/>
        </p:spPr>
      </p:sp>
      <p:sp>
        <p:nvSpPr>
          <p:cNvPr id="17" name="Text 15"/>
          <p:cNvSpPr/>
          <p:nvPr/>
        </p:nvSpPr>
        <p:spPr>
          <a:xfrm>
            <a:off x="5212080" y="1572768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full 290K train set for emotion features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937760" y="2194560"/>
            <a:ext cx="137160" cy="137160"/>
          </a:xfrm>
          <a:prstGeom prst="ellipse">
            <a:avLst/>
          </a:prstGeom>
          <a:solidFill>
            <a:srgbClr val="D4456A"/>
          </a:solidFill>
          <a:ln/>
        </p:spPr>
      </p:sp>
      <p:sp>
        <p:nvSpPr>
          <p:cNvPr id="19" name="Text 17"/>
          <p:cNvSpPr/>
          <p:nvPr/>
        </p:nvSpPr>
        <p:spPr>
          <a:xfrm>
            <a:off x="5212080" y="2121408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mood-based models on combined features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937760" y="2743200"/>
            <a:ext cx="137160" cy="137160"/>
          </a:xfrm>
          <a:prstGeom prst="ellipse">
            <a:avLst/>
          </a:prstGeom>
          <a:solidFill>
            <a:srgbClr val="D4456A"/>
          </a:solidFill>
          <a:ln/>
        </p:spPr>
      </p:sp>
      <p:sp>
        <p:nvSpPr>
          <p:cNvPr id="21" name="Text 19"/>
          <p:cNvSpPr/>
          <p:nvPr/>
        </p:nvSpPr>
        <p:spPr>
          <a:xfrm>
            <a:off x="5212080" y="2670048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interactive web UI for live search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937760" y="3291840"/>
            <a:ext cx="137160" cy="137160"/>
          </a:xfrm>
          <a:prstGeom prst="ellipse">
            <a:avLst/>
          </a:prstGeom>
          <a:solidFill>
            <a:srgbClr val="D4456A"/>
          </a:solidFill>
          <a:ln/>
        </p:spPr>
      </p:sp>
      <p:sp>
        <p:nvSpPr>
          <p:cNvPr id="23" name="Text 21"/>
          <p:cNvSpPr/>
          <p:nvPr/>
        </p:nvSpPr>
        <p:spPr>
          <a:xfrm>
            <a:off x="5212080" y="3218688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 audio features for multimodal approach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937760" y="3840480"/>
            <a:ext cx="137160" cy="137160"/>
          </a:xfrm>
          <a:prstGeom prst="ellipse">
            <a:avLst/>
          </a:prstGeom>
          <a:solidFill>
            <a:srgbClr val="D4456A"/>
          </a:solidFill>
          <a:ln/>
        </p:spPr>
      </p:sp>
      <p:sp>
        <p:nvSpPr>
          <p:cNvPr id="25" name="Text 23"/>
          <p:cNvSpPr/>
          <p:nvPr/>
        </p:nvSpPr>
        <p:spPr>
          <a:xfrm>
            <a:off x="5212080" y="3767328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Fine-tune SBERT on lyrics-specific corpus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2D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D4456A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31920" y="914400"/>
            <a:ext cx="914400" cy="9144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192024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ECE2D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You!</a:t>
            </a:r>
            <a:endParaRPr lang="en-US" sz="4400" dirty="0"/>
          </a:p>
        </p:txBody>
      </p:sp>
      <p:sp>
        <p:nvSpPr>
          <p:cNvPr id="5" name="Text 2"/>
          <p:cNvSpPr/>
          <p:nvPr/>
        </p:nvSpPr>
        <p:spPr>
          <a:xfrm>
            <a:off x="914400" y="2834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Music Maven — Lyrics Classification &amp; Mood-Based Search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3474720" y="3474720"/>
            <a:ext cx="2194560" cy="36576"/>
          </a:xfrm>
          <a:prstGeom prst="rect">
            <a:avLst/>
          </a:prstGeom>
          <a:solidFill>
            <a:srgbClr val="D4456A"/>
          </a:solidFill>
          <a:ln/>
        </p:spPr>
      </p:sp>
      <p:sp>
        <p:nvSpPr>
          <p:cNvPr id="7" name="Text 4"/>
          <p:cNvSpPr/>
          <p:nvPr/>
        </p:nvSpPr>
        <p:spPr>
          <a:xfrm>
            <a:off x="914400" y="36576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CE2D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Maria Malini Anthony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Music Maven - Lyrics Classification &amp; Mood-Based Search</dc:title>
  <dc:subject>PptxGenJS Presentation</dc:subject>
  <dc:creator>Maria Malini Anthony</dc:creator>
  <cp:lastModifiedBy>Maria Malini Anthony</cp:lastModifiedBy>
  <cp:revision>1</cp:revision>
  <dcterms:created xsi:type="dcterms:W3CDTF">2026-04-01T03:43:18Z</dcterms:created>
  <dcterms:modified xsi:type="dcterms:W3CDTF">2026-04-01T03:43:18Z</dcterms:modified>
</cp:coreProperties>
</file>